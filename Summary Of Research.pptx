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317" r:id="rId5"/>
    <p:sldId id="318" r:id="rId6"/>
    <p:sldId id="319" r:id="rId7"/>
    <p:sldId id="320" r:id="rId8"/>
    <p:sldId id="321" r:id="rId9"/>
    <p:sldId id="322" r:id="rId10"/>
    <p:sldId id="323" r:id="rId11"/>
    <p:sldId id="324" r:id="rId12"/>
    <p:sldId id="325" r:id="rId13"/>
    <p:sldId id="328" r:id="rId14"/>
    <p:sldId id="3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405" autoAdjust="0"/>
  </p:normalViewPr>
  <p:slideViewPr>
    <p:cSldViewPr snapToGrid="0">
      <p:cViewPr varScale="1">
        <p:scale>
          <a:sx n="48" d="100"/>
          <a:sy n="48" d="100"/>
        </p:scale>
        <p:origin x="67" y="715"/>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ram vaibhava venkat" userId="ab5bb793f8e6fb97" providerId="LiveId" clId="{BEE2AA8C-A1A7-4B15-A6CE-D7E2716C62EB}"/>
    <pc:docChg chg="custSel delSld modSld sldOrd">
      <pc:chgData name="kuram vaibhava venkat" userId="ab5bb793f8e6fb97" providerId="LiveId" clId="{BEE2AA8C-A1A7-4B15-A6CE-D7E2716C62EB}" dt="2026-07-31T06:57:25.774" v="11" actId="47"/>
      <pc:docMkLst>
        <pc:docMk/>
      </pc:docMkLst>
      <pc:sldChg chg="delSp mod ord">
        <pc:chgData name="kuram vaibhava venkat" userId="ab5bb793f8e6fb97" providerId="LiveId" clId="{BEE2AA8C-A1A7-4B15-A6CE-D7E2716C62EB}" dt="2026-07-31T06:57:00.850" v="8"/>
        <pc:sldMkLst>
          <pc:docMk/>
          <pc:sldMk cId="3091654946" sldId="326"/>
        </pc:sldMkLst>
        <pc:spChg chg="del">
          <ac:chgData name="kuram vaibhava venkat" userId="ab5bb793f8e6fb97" providerId="LiveId" clId="{BEE2AA8C-A1A7-4B15-A6CE-D7E2716C62EB}" dt="2026-07-31T06:56:02.136" v="1" actId="478"/>
          <ac:spMkLst>
            <pc:docMk/>
            <pc:sldMk cId="3091654946" sldId="326"/>
            <ac:spMk id="2" creationId="{D21018DF-9716-EAA3-3391-D15401F3C9DD}"/>
          </ac:spMkLst>
        </pc:spChg>
        <pc:spChg chg="del">
          <ac:chgData name="kuram vaibhava venkat" userId="ab5bb793f8e6fb97" providerId="LiveId" clId="{BEE2AA8C-A1A7-4B15-A6CE-D7E2716C62EB}" dt="2026-07-31T06:55:58.645" v="0" actId="478"/>
          <ac:spMkLst>
            <pc:docMk/>
            <pc:sldMk cId="3091654946" sldId="326"/>
            <ac:spMk id="3" creationId="{4142BD36-A41C-997E-36D5-DD91EA72F02E}"/>
          </ac:spMkLst>
        </pc:spChg>
      </pc:sldChg>
      <pc:sldChg chg="del">
        <pc:chgData name="kuram vaibhava venkat" userId="ab5bb793f8e6fb97" providerId="LiveId" clId="{BEE2AA8C-A1A7-4B15-A6CE-D7E2716C62EB}" dt="2026-07-31T06:57:25.774" v="11" actId="47"/>
        <pc:sldMkLst>
          <pc:docMk/>
          <pc:sldMk cId="1910578166" sldId="327"/>
        </pc:sldMkLst>
      </pc:sldChg>
      <pc:sldChg chg="addSp modSp mod ord">
        <pc:chgData name="kuram vaibhava venkat" userId="ab5bb793f8e6fb97" providerId="LiveId" clId="{BEE2AA8C-A1A7-4B15-A6CE-D7E2716C62EB}" dt="2026-07-31T06:57:23.441" v="10"/>
        <pc:sldMkLst>
          <pc:docMk/>
          <pc:sldMk cId="1443763840" sldId="328"/>
        </pc:sldMkLst>
        <pc:spChg chg="add mod">
          <ac:chgData name="kuram vaibhava venkat" userId="ab5bb793f8e6fb97" providerId="LiveId" clId="{BEE2AA8C-A1A7-4B15-A6CE-D7E2716C62EB}" dt="2026-07-31T06:56:52.533" v="6" actId="1076"/>
          <ac:spMkLst>
            <pc:docMk/>
            <pc:sldMk cId="1443763840" sldId="328"/>
            <ac:spMk id="4" creationId="{C5E7AE4E-ABE2-F4B4-8795-A60B40580A8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7/28/2026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7/28/2026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Summary Of Research</a:t>
            </a:r>
            <a:br>
              <a:rPr lang="en-US" dirty="0"/>
            </a:br>
            <a:r>
              <a:rPr lang="en-US" dirty="0"/>
              <a:t> Paper By:</a:t>
            </a:r>
            <a:br>
              <a:rPr lang="en-US" dirty="0"/>
            </a:br>
            <a:r>
              <a:rPr lang="en-US" dirty="0" err="1"/>
              <a:t>Kasil</a:t>
            </a:r>
            <a:r>
              <a:rPr lang="en-US" dirty="0"/>
              <a:t> </a:t>
            </a:r>
            <a:r>
              <a:rPr lang="en-US" dirty="0" err="1"/>
              <a:t>Teyene</a:t>
            </a:r>
            <a:r>
              <a:rPr lang="en-US" dirty="0"/>
              <a:t> , </a:t>
            </a:r>
            <a:r>
              <a:rPr lang="en-US" dirty="0" err="1"/>
              <a:t>H.Taconi</a:t>
            </a: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88CE-67C1-8730-5347-B47E7C53D39C}"/>
              </a:ext>
            </a:extLst>
          </p:cNvPr>
          <p:cNvSpPr>
            <a:spLocks noGrp="1"/>
          </p:cNvSpPr>
          <p:nvPr>
            <p:ph type="title"/>
          </p:nvPr>
        </p:nvSpPr>
        <p:spPr>
          <a:xfrm>
            <a:off x="914399" y="673768"/>
            <a:ext cx="9496927" cy="1155032"/>
          </a:xfrm>
        </p:spPr>
        <p:txBody>
          <a:bodyPr/>
          <a:lstStyle/>
          <a:p>
            <a:r>
              <a:rPr lang="en-US" dirty="0"/>
              <a:t>Design and Implementation of a Low-Power</a:t>
            </a:r>
            <a:br>
              <a:rPr lang="en-US" dirty="0"/>
            </a:br>
            <a:r>
              <a:rPr lang="en-US" dirty="0"/>
              <a:t>RISC-V Processor Core for Energy-Constrained Edge Devices</a:t>
            </a:r>
            <a:endParaRPr lang="en-IN" dirty="0"/>
          </a:p>
        </p:txBody>
      </p:sp>
      <p:sp>
        <p:nvSpPr>
          <p:cNvPr id="3" name="Content Placeholder 2">
            <a:extLst>
              <a:ext uri="{FF2B5EF4-FFF2-40B4-BE49-F238E27FC236}">
                <a16:creationId xmlns:a16="http://schemas.microsoft.com/office/drawing/2014/main" id="{136ABA29-74EA-977D-EA39-99DDF69182D6}"/>
              </a:ext>
            </a:extLst>
          </p:cNvPr>
          <p:cNvSpPr>
            <a:spLocks noGrp="1"/>
          </p:cNvSpPr>
          <p:nvPr>
            <p:ph sz="quarter" idx="10"/>
          </p:nvPr>
        </p:nvSpPr>
        <p:spPr/>
        <p:txBody>
          <a:bodyPr>
            <a:normAutofit fontScale="85000" lnSpcReduction="10000"/>
          </a:bodyPr>
          <a:lstStyle/>
          <a:p>
            <a:r>
              <a:rPr lang="en-IN" sz="2600" dirty="0">
                <a:solidFill>
                  <a:schemeClr val="accent6">
                    <a:lumMod val="10000"/>
                  </a:schemeClr>
                </a:solidFill>
              </a:rPr>
              <a:t>The paper deals with the entire design and implementation of low power methods on Risc v processor. A processor of a device is generally </a:t>
            </a:r>
            <a:r>
              <a:rPr lang="en-IN" sz="2600" dirty="0" err="1">
                <a:solidFill>
                  <a:schemeClr val="accent6">
                    <a:lumMod val="10000"/>
                  </a:schemeClr>
                </a:solidFill>
              </a:rPr>
              <a:t>choosen</a:t>
            </a:r>
            <a:r>
              <a:rPr lang="en-IN" sz="2600" dirty="0">
                <a:solidFill>
                  <a:schemeClr val="accent6">
                    <a:lumMod val="10000"/>
                  </a:schemeClr>
                </a:solidFill>
              </a:rPr>
              <a:t> due to its speed or we can also say performance but now we are seeing a exponential scale efficient computing and to perform well within Limited – Energy constraints.</a:t>
            </a:r>
          </a:p>
          <a:p>
            <a:r>
              <a:rPr lang="en-IN" sz="2600" dirty="0">
                <a:solidFill>
                  <a:schemeClr val="accent6">
                    <a:lumMod val="10000"/>
                  </a:schemeClr>
                </a:solidFill>
              </a:rPr>
              <a:t>The abstract for the </a:t>
            </a:r>
            <a:r>
              <a:rPr lang="en-IN" sz="2600" dirty="0" err="1">
                <a:solidFill>
                  <a:schemeClr val="accent6">
                    <a:lumMod val="10000"/>
                  </a:schemeClr>
                </a:solidFill>
              </a:rPr>
              <a:t>Teyene</a:t>
            </a:r>
            <a:r>
              <a:rPr lang="en-IN" sz="2600" dirty="0">
                <a:solidFill>
                  <a:schemeClr val="accent6">
                    <a:lumMod val="10000"/>
                  </a:schemeClr>
                </a:solidFill>
              </a:rPr>
              <a:t> &amp; </a:t>
            </a:r>
            <a:r>
              <a:rPr lang="en-IN" sz="2600" dirty="0" err="1">
                <a:solidFill>
                  <a:schemeClr val="accent6">
                    <a:lumMod val="10000"/>
                  </a:schemeClr>
                </a:solidFill>
              </a:rPr>
              <a:t>Taconi</a:t>
            </a:r>
            <a:r>
              <a:rPr lang="en-IN" sz="2600" dirty="0">
                <a:solidFill>
                  <a:schemeClr val="accent6">
                    <a:lumMod val="10000"/>
                  </a:schemeClr>
                </a:solidFill>
              </a:rPr>
              <a:t> paper reports one clear headline number — a </a:t>
            </a:r>
            <a:r>
              <a:rPr lang="en-IN" sz="2600" b="1" dirty="0">
                <a:solidFill>
                  <a:schemeClr val="accent6">
                    <a:lumMod val="10000"/>
                  </a:schemeClr>
                </a:solidFill>
              </a:rPr>
              <a:t>43% energy-efficiency improvement</a:t>
            </a:r>
            <a:r>
              <a:rPr lang="en-IN" sz="2600" dirty="0">
                <a:solidFill>
                  <a:schemeClr val="accent6">
                    <a:lumMod val="10000"/>
                  </a:schemeClr>
                </a:solidFill>
              </a:rPr>
              <a:t> over conventional RISC-V cores, achieved through fine-grain clock gating, power gating, and instruction-level parallelism on a 5-stage RV32IM(C) pipeline</a:t>
            </a:r>
            <a:r>
              <a:rPr lang="en-IN" sz="2600" dirty="0"/>
              <a:t>. </a:t>
            </a:r>
          </a:p>
          <a:p>
            <a:endParaRPr lang="en-IN" dirty="0"/>
          </a:p>
        </p:txBody>
      </p:sp>
      <p:sp>
        <p:nvSpPr>
          <p:cNvPr id="4" name="Slide Number Placeholder 3">
            <a:extLst>
              <a:ext uri="{FF2B5EF4-FFF2-40B4-BE49-F238E27FC236}">
                <a16:creationId xmlns:a16="http://schemas.microsoft.com/office/drawing/2014/main" id="{9F4A5C1C-1740-0B80-517A-76FA499BEB52}"/>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121768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7398-4008-112A-D0C9-E9A5BEDB35A4}"/>
              </a:ext>
            </a:extLst>
          </p:cNvPr>
          <p:cNvSpPr>
            <a:spLocks noGrp="1"/>
          </p:cNvSpPr>
          <p:nvPr>
            <p:ph type="title"/>
          </p:nvPr>
        </p:nvSpPr>
        <p:spPr>
          <a:xfrm>
            <a:off x="737937" y="484633"/>
            <a:ext cx="10360152" cy="914400"/>
          </a:xfrm>
        </p:spPr>
        <p:txBody>
          <a:bodyPr/>
          <a:lstStyle/>
          <a:p>
            <a:r>
              <a:rPr lang="en-IN" dirty="0">
                <a:solidFill>
                  <a:schemeClr val="accent6">
                    <a:lumMod val="10000"/>
                  </a:schemeClr>
                </a:solidFill>
              </a:rPr>
              <a:t>Motivation &amp; Problem Statement</a:t>
            </a:r>
          </a:p>
        </p:txBody>
      </p:sp>
      <p:sp>
        <p:nvSpPr>
          <p:cNvPr id="3" name="Content Placeholder 2">
            <a:extLst>
              <a:ext uri="{FF2B5EF4-FFF2-40B4-BE49-F238E27FC236}">
                <a16:creationId xmlns:a16="http://schemas.microsoft.com/office/drawing/2014/main" id="{6ACFE6C6-461D-17C8-BD16-01AF0443C00F}"/>
              </a:ext>
            </a:extLst>
          </p:cNvPr>
          <p:cNvSpPr>
            <a:spLocks noGrp="1"/>
          </p:cNvSpPr>
          <p:nvPr>
            <p:ph sz="quarter" idx="11"/>
          </p:nvPr>
        </p:nvSpPr>
        <p:spPr/>
        <p:txBody>
          <a:bodyPr>
            <a:normAutofit/>
          </a:bodyPr>
          <a:lstStyle/>
          <a:p>
            <a:r>
              <a:rPr lang="en-IN" sz="2400" dirty="0">
                <a:solidFill>
                  <a:schemeClr val="accent6">
                    <a:lumMod val="10000"/>
                  </a:schemeClr>
                </a:solidFill>
              </a:rPr>
              <a:t>The Challenge </a:t>
            </a:r>
          </a:p>
          <a:p>
            <a:r>
              <a:rPr lang="en-IN" sz="2400" dirty="0">
                <a:solidFill>
                  <a:schemeClr val="accent6">
                    <a:lumMod val="10000"/>
                  </a:schemeClr>
                </a:solidFill>
              </a:rPr>
              <a:t>Edge devices (IoT, wearables, sensors) demand low power consumption but conventional processor architectures prioritize performance over efficiency, making them unsuitable for battery-powered or energy-harvesting devices.</a:t>
            </a:r>
          </a:p>
        </p:txBody>
      </p:sp>
      <p:sp>
        <p:nvSpPr>
          <p:cNvPr id="4" name="Content Placeholder 3">
            <a:extLst>
              <a:ext uri="{FF2B5EF4-FFF2-40B4-BE49-F238E27FC236}">
                <a16:creationId xmlns:a16="http://schemas.microsoft.com/office/drawing/2014/main" id="{4BD68020-5043-49ED-FBA1-9A8AAAE7F940}"/>
              </a:ext>
            </a:extLst>
          </p:cNvPr>
          <p:cNvSpPr>
            <a:spLocks noGrp="1"/>
          </p:cNvSpPr>
          <p:nvPr>
            <p:ph sz="quarter" idx="12"/>
          </p:nvPr>
        </p:nvSpPr>
        <p:spPr/>
        <p:txBody>
          <a:bodyPr>
            <a:normAutofit/>
          </a:bodyPr>
          <a:lstStyle/>
          <a:p>
            <a:r>
              <a:rPr lang="en-IN" sz="2400" dirty="0">
                <a:solidFill>
                  <a:schemeClr val="accent6">
                    <a:lumMod val="10000"/>
                  </a:schemeClr>
                </a:solidFill>
              </a:rPr>
              <a:t>The Solution </a:t>
            </a:r>
          </a:p>
          <a:p>
            <a:pPr marL="342900" indent="-342900">
              <a:buFont typeface="Arial" panose="020B0604020202020204" pitchFamily="34" charset="0"/>
              <a:buChar char="•"/>
            </a:pPr>
            <a:r>
              <a:rPr lang="en-IN" sz="2400" dirty="0">
                <a:solidFill>
                  <a:schemeClr val="accent6">
                    <a:lumMod val="10000"/>
                  </a:schemeClr>
                </a:solidFill>
              </a:rPr>
              <a:t>Develop a modular, energy-aware RISC-V processor core using:</a:t>
            </a:r>
          </a:p>
          <a:p>
            <a:pPr marL="342900" indent="-342900">
              <a:buFont typeface="Arial" panose="020B0604020202020204" pitchFamily="34" charset="0"/>
              <a:buChar char="•"/>
            </a:pPr>
            <a:r>
              <a:rPr lang="en-IN" sz="2400" dirty="0">
                <a:solidFill>
                  <a:schemeClr val="accent6">
                    <a:lumMod val="10000"/>
                  </a:schemeClr>
                </a:solidFill>
              </a:rPr>
              <a:t>Fine-grain clock gating</a:t>
            </a:r>
          </a:p>
          <a:p>
            <a:pPr marL="342900" indent="-342900">
              <a:buFont typeface="Arial" panose="020B0604020202020204" pitchFamily="34" charset="0"/>
              <a:buChar char="•"/>
            </a:pPr>
            <a:r>
              <a:rPr lang="en-IN" sz="2400" dirty="0">
                <a:solidFill>
                  <a:schemeClr val="accent6">
                    <a:lumMod val="10000"/>
                  </a:schemeClr>
                </a:solidFill>
              </a:rPr>
              <a:t>Power gating </a:t>
            </a:r>
          </a:p>
          <a:p>
            <a:pPr marL="342900" indent="-342900">
              <a:buFont typeface="Arial" panose="020B0604020202020204" pitchFamily="34" charset="0"/>
              <a:buChar char="•"/>
            </a:pPr>
            <a:r>
              <a:rPr lang="en-IN" sz="2400" dirty="0">
                <a:solidFill>
                  <a:schemeClr val="accent6">
                    <a:lumMod val="10000"/>
                  </a:schemeClr>
                </a:solidFill>
              </a:rPr>
              <a:t>Instruction-level parallelism </a:t>
            </a:r>
          </a:p>
          <a:p>
            <a:pPr marL="342900" indent="-342900">
              <a:buFont typeface="Arial" panose="020B0604020202020204" pitchFamily="34" charset="0"/>
              <a:buChar char="•"/>
            </a:pPr>
            <a:r>
              <a:rPr lang="en-IN" sz="2400" dirty="0">
                <a:solidFill>
                  <a:schemeClr val="accent6">
                    <a:lumMod val="10000"/>
                  </a:schemeClr>
                </a:solidFill>
              </a:rPr>
              <a:t>DVFS (Dynamic Voltage/Frequency Scaling)</a:t>
            </a:r>
          </a:p>
        </p:txBody>
      </p:sp>
      <p:sp>
        <p:nvSpPr>
          <p:cNvPr id="5" name="Slide Number Placeholder 4">
            <a:extLst>
              <a:ext uri="{FF2B5EF4-FFF2-40B4-BE49-F238E27FC236}">
                <a16:creationId xmlns:a16="http://schemas.microsoft.com/office/drawing/2014/main" id="{F2F8AA4F-9551-902D-CA30-88BA1FA6CBAD}"/>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404804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FB55-2051-FF32-2A10-AF97FBF42D54}"/>
              </a:ext>
            </a:extLst>
          </p:cNvPr>
          <p:cNvSpPr>
            <a:spLocks noGrp="1"/>
          </p:cNvSpPr>
          <p:nvPr>
            <p:ph type="title"/>
          </p:nvPr>
        </p:nvSpPr>
        <p:spPr>
          <a:xfrm>
            <a:off x="839142" y="673769"/>
            <a:ext cx="10360152" cy="914400"/>
          </a:xfrm>
        </p:spPr>
        <p:txBody>
          <a:bodyPr/>
          <a:lstStyle/>
          <a:p>
            <a:r>
              <a:rPr lang="en-IN" dirty="0">
                <a:solidFill>
                  <a:schemeClr val="accent6">
                    <a:lumMod val="10000"/>
                  </a:schemeClr>
                </a:solidFill>
              </a:rPr>
              <a:t>RISC-V Architecture Overview</a:t>
            </a:r>
          </a:p>
        </p:txBody>
      </p:sp>
      <p:sp>
        <p:nvSpPr>
          <p:cNvPr id="3" name="Content Placeholder 2">
            <a:extLst>
              <a:ext uri="{FF2B5EF4-FFF2-40B4-BE49-F238E27FC236}">
                <a16:creationId xmlns:a16="http://schemas.microsoft.com/office/drawing/2014/main" id="{E17B8F69-F40C-955D-1618-83560F6EFFBB}"/>
              </a:ext>
            </a:extLst>
          </p:cNvPr>
          <p:cNvSpPr>
            <a:spLocks noGrp="1"/>
          </p:cNvSpPr>
          <p:nvPr>
            <p:ph sz="quarter" idx="11"/>
          </p:nvPr>
        </p:nvSpPr>
        <p:spPr/>
        <p:txBody>
          <a:bodyPr/>
          <a:lstStyle/>
          <a:p>
            <a:r>
              <a:rPr lang="en-IN" sz="2400" dirty="0">
                <a:solidFill>
                  <a:srgbClr val="000000"/>
                </a:solidFill>
              </a:rPr>
              <a:t>Why RISC-V for Edge Computing?</a:t>
            </a:r>
          </a:p>
          <a:p>
            <a:r>
              <a:rPr lang="en-IN" sz="2400" dirty="0">
                <a:solidFill>
                  <a:srgbClr val="000000"/>
                </a:solidFill>
              </a:rPr>
              <a:t>Open-source &amp; license-free Modular instruction set Minimal core (RV321) with optional extensions (M, A, F/D, C) Supports custom extensions for domain-specific optimization Flexible for application-specific processors</a:t>
            </a:r>
          </a:p>
        </p:txBody>
      </p:sp>
      <p:sp>
        <p:nvSpPr>
          <p:cNvPr id="4" name="Content Placeholder 3">
            <a:extLst>
              <a:ext uri="{FF2B5EF4-FFF2-40B4-BE49-F238E27FC236}">
                <a16:creationId xmlns:a16="http://schemas.microsoft.com/office/drawing/2014/main" id="{3D27597B-0AE9-3F1F-9D65-07998224EBF7}"/>
              </a:ext>
            </a:extLst>
          </p:cNvPr>
          <p:cNvSpPr>
            <a:spLocks noGrp="1"/>
          </p:cNvSpPr>
          <p:nvPr>
            <p:ph sz="quarter" idx="12"/>
          </p:nvPr>
        </p:nvSpPr>
        <p:spPr>
          <a:xfrm>
            <a:off x="6357747" y="2039112"/>
            <a:ext cx="5834253" cy="3877055"/>
          </a:xfrm>
        </p:spPr>
        <p:txBody>
          <a:bodyPr>
            <a:noAutofit/>
          </a:bodyPr>
          <a:lstStyle/>
          <a:p>
            <a:r>
              <a:rPr lang="en-IN" sz="2400" dirty="0">
                <a:solidFill>
                  <a:schemeClr val="accent6">
                    <a:lumMod val="10000"/>
                  </a:schemeClr>
                </a:solidFill>
              </a:rPr>
              <a:t>Proposed Core Features:</a:t>
            </a:r>
          </a:p>
          <a:p>
            <a:r>
              <a:rPr lang="en-IN" sz="2400" dirty="0">
                <a:solidFill>
                  <a:schemeClr val="accent6">
                    <a:lumMod val="10000"/>
                  </a:schemeClr>
                </a:solidFill>
              </a:rPr>
              <a:t>RV32IMC + Custom extensions</a:t>
            </a:r>
          </a:p>
          <a:p>
            <a:r>
              <a:rPr lang="en-IN" sz="2400" dirty="0">
                <a:solidFill>
                  <a:schemeClr val="accent6">
                    <a:lumMod val="10000"/>
                  </a:schemeClr>
                </a:solidFill>
              </a:rPr>
              <a:t>5-Stage Pipeline</a:t>
            </a:r>
          </a:p>
          <a:p>
            <a:r>
              <a:rPr lang="en-IN" sz="2400" dirty="0">
                <a:solidFill>
                  <a:schemeClr val="accent6">
                    <a:lumMod val="10000"/>
                  </a:schemeClr>
                </a:solidFill>
              </a:rPr>
              <a:t>Hardware-level optimizations:</a:t>
            </a:r>
          </a:p>
          <a:p>
            <a:r>
              <a:rPr lang="en-IN" sz="2400" dirty="0">
                <a:solidFill>
                  <a:schemeClr val="accent6">
                    <a:lumMod val="10000"/>
                  </a:schemeClr>
                </a:solidFill>
              </a:rPr>
              <a:t>Clock gating on ALU, cache, register file</a:t>
            </a:r>
          </a:p>
          <a:p>
            <a:r>
              <a:rPr lang="en-IN" sz="2400" dirty="0">
                <a:solidFill>
                  <a:schemeClr val="accent6">
                    <a:lumMod val="10000"/>
                  </a:schemeClr>
                </a:solidFill>
              </a:rPr>
              <a:t>Power gating for idle blocks</a:t>
            </a:r>
          </a:p>
          <a:p>
            <a:r>
              <a:rPr lang="en-IN" sz="2400" dirty="0">
                <a:solidFill>
                  <a:schemeClr val="accent6">
                    <a:lumMod val="10000"/>
                  </a:schemeClr>
                </a:solidFill>
              </a:rPr>
              <a:t>DVFS hooks for external control</a:t>
            </a:r>
          </a:p>
          <a:p>
            <a:r>
              <a:rPr lang="en-IN" sz="2400" dirty="0">
                <a:solidFill>
                  <a:schemeClr val="accent6">
                    <a:lumMod val="10000"/>
                  </a:schemeClr>
                </a:solidFill>
              </a:rPr>
              <a:t>Energy-aware sleep/wake instructions</a:t>
            </a:r>
          </a:p>
          <a:p>
            <a:r>
              <a:rPr lang="en-IN" sz="2400" dirty="0">
                <a:solidFill>
                  <a:schemeClr val="accent6">
                    <a:lumMod val="10000"/>
                  </a:schemeClr>
                </a:solidFill>
              </a:rPr>
              <a:t>25-50 MHz clock frequency</a:t>
            </a:r>
          </a:p>
        </p:txBody>
      </p:sp>
      <p:sp>
        <p:nvSpPr>
          <p:cNvPr id="5" name="Slide Number Placeholder 4">
            <a:extLst>
              <a:ext uri="{FF2B5EF4-FFF2-40B4-BE49-F238E27FC236}">
                <a16:creationId xmlns:a16="http://schemas.microsoft.com/office/drawing/2014/main" id="{B8131525-3CD0-5244-6C25-E44ED8388E33}"/>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381360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418D-C53C-9041-C6EB-5131C62C79B4}"/>
              </a:ext>
            </a:extLst>
          </p:cNvPr>
          <p:cNvSpPr>
            <a:spLocks noGrp="1"/>
          </p:cNvSpPr>
          <p:nvPr>
            <p:ph type="title"/>
          </p:nvPr>
        </p:nvSpPr>
        <p:spPr>
          <a:xfrm>
            <a:off x="770021" y="593558"/>
            <a:ext cx="10360152" cy="914400"/>
          </a:xfrm>
        </p:spPr>
        <p:txBody>
          <a:bodyPr/>
          <a:lstStyle/>
          <a:p>
            <a:r>
              <a:rPr lang="en-IN" dirty="0"/>
              <a:t>System Architecture</a:t>
            </a:r>
          </a:p>
        </p:txBody>
      </p:sp>
      <p:sp>
        <p:nvSpPr>
          <p:cNvPr id="3" name="Content Placeholder 2">
            <a:extLst>
              <a:ext uri="{FF2B5EF4-FFF2-40B4-BE49-F238E27FC236}">
                <a16:creationId xmlns:a16="http://schemas.microsoft.com/office/drawing/2014/main" id="{8D1BDA19-8F52-423E-7F58-43D5AF807E36}"/>
              </a:ext>
            </a:extLst>
          </p:cNvPr>
          <p:cNvSpPr>
            <a:spLocks noGrp="1"/>
          </p:cNvSpPr>
          <p:nvPr>
            <p:ph sz="quarter" idx="13"/>
          </p:nvPr>
        </p:nvSpPr>
        <p:spPr/>
        <p:txBody>
          <a:bodyPr/>
          <a:lstStyle/>
          <a:p>
            <a:endParaRPr lang="en-IN"/>
          </a:p>
        </p:txBody>
      </p:sp>
      <p:sp>
        <p:nvSpPr>
          <p:cNvPr id="4" name="Content Placeholder 3">
            <a:extLst>
              <a:ext uri="{FF2B5EF4-FFF2-40B4-BE49-F238E27FC236}">
                <a16:creationId xmlns:a16="http://schemas.microsoft.com/office/drawing/2014/main" id="{5A04FEBF-D34D-5139-92B6-A2E44CA006D8}"/>
              </a:ext>
            </a:extLst>
          </p:cNvPr>
          <p:cNvSpPr>
            <a:spLocks noGrp="1"/>
          </p:cNvSpPr>
          <p:nvPr>
            <p:ph sz="quarter" idx="12"/>
          </p:nvPr>
        </p:nvSpPr>
        <p:spPr>
          <a:xfrm>
            <a:off x="5037221" y="2039112"/>
            <a:ext cx="6244190" cy="3904488"/>
          </a:xfrm>
        </p:spPr>
        <p:txBody>
          <a:bodyPr>
            <a:noAutofit/>
          </a:bodyPr>
          <a:lstStyle/>
          <a:p>
            <a:r>
              <a:rPr lang="en-US" sz="2400" dirty="0">
                <a:solidFill>
                  <a:schemeClr val="accent6">
                    <a:lumMod val="10000"/>
                  </a:schemeClr>
                </a:solidFill>
              </a:rPr>
              <a:t>The processor core under this work is an RISC-V-based low-power processor core architecture that is based on the standard architecture of five-stage pipeline, which is divided into the following parts: Instruction Fetch (IF), Instruction Decode (ID), Execute (EX), Memory Access (MEM), and Write Back (WB). This pipelining scheme supports higher instruction throughput at the same time as supporting simplicity and area efficiency, essential to edge devices with restricted hardware capabilities</a:t>
            </a:r>
            <a:endParaRPr lang="en-IN" sz="2400" dirty="0">
              <a:solidFill>
                <a:schemeClr val="accent6">
                  <a:lumMod val="10000"/>
                </a:schemeClr>
              </a:solidFill>
            </a:endParaRPr>
          </a:p>
        </p:txBody>
      </p:sp>
      <p:sp>
        <p:nvSpPr>
          <p:cNvPr id="5" name="Slide Number Placeholder 4">
            <a:extLst>
              <a:ext uri="{FF2B5EF4-FFF2-40B4-BE49-F238E27FC236}">
                <a16:creationId xmlns:a16="http://schemas.microsoft.com/office/drawing/2014/main" id="{F7228BDE-2F1F-B89F-64C8-A360D74B958B}"/>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7" name="Picture 6">
            <a:extLst>
              <a:ext uri="{FF2B5EF4-FFF2-40B4-BE49-F238E27FC236}">
                <a16:creationId xmlns:a16="http://schemas.microsoft.com/office/drawing/2014/main" id="{49AD8AF7-9D03-2081-833B-BD86B7267DF3}"/>
              </a:ext>
            </a:extLst>
          </p:cNvPr>
          <p:cNvPicPr>
            <a:picLocks noChangeAspect="1"/>
          </p:cNvPicPr>
          <p:nvPr/>
        </p:nvPicPr>
        <p:blipFill>
          <a:blip r:embed="rId2"/>
          <a:stretch>
            <a:fillRect/>
          </a:stretch>
        </p:blipFill>
        <p:spPr>
          <a:xfrm>
            <a:off x="910588" y="2039112"/>
            <a:ext cx="4054243" cy="3904488"/>
          </a:xfrm>
          <a:prstGeom prst="rect">
            <a:avLst/>
          </a:prstGeom>
        </p:spPr>
      </p:pic>
    </p:spTree>
    <p:extLst>
      <p:ext uri="{BB962C8B-B14F-4D97-AF65-F5344CB8AC3E}">
        <p14:creationId xmlns:p14="http://schemas.microsoft.com/office/powerpoint/2010/main" val="4114915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482FB-488F-9A57-E56B-4A20A25AC309}"/>
              </a:ext>
            </a:extLst>
          </p:cNvPr>
          <p:cNvSpPr>
            <a:spLocks noGrp="1"/>
          </p:cNvSpPr>
          <p:nvPr>
            <p:ph type="title"/>
          </p:nvPr>
        </p:nvSpPr>
        <p:spPr/>
        <p:txBody>
          <a:bodyPr/>
          <a:lstStyle/>
          <a:p>
            <a:r>
              <a:rPr lang="en-IN" dirty="0">
                <a:solidFill>
                  <a:schemeClr val="accent6">
                    <a:lumMod val="10000"/>
                  </a:schemeClr>
                </a:solidFill>
              </a:rPr>
              <a:t>System Architecture</a:t>
            </a:r>
          </a:p>
        </p:txBody>
      </p:sp>
      <p:sp>
        <p:nvSpPr>
          <p:cNvPr id="4" name="Slide Number Placeholder 3">
            <a:extLst>
              <a:ext uri="{FF2B5EF4-FFF2-40B4-BE49-F238E27FC236}">
                <a16:creationId xmlns:a16="http://schemas.microsoft.com/office/drawing/2014/main" id="{730F3762-B68A-C6A9-C2D4-1973C46A5978}"/>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8" name="TextBox 7">
            <a:extLst>
              <a:ext uri="{FF2B5EF4-FFF2-40B4-BE49-F238E27FC236}">
                <a16:creationId xmlns:a16="http://schemas.microsoft.com/office/drawing/2014/main" id="{9FD3A37F-37AE-ED54-72AC-CEDF8D12A727}"/>
              </a:ext>
            </a:extLst>
          </p:cNvPr>
          <p:cNvSpPr txBox="1"/>
          <p:nvPr/>
        </p:nvSpPr>
        <p:spPr>
          <a:xfrm>
            <a:off x="914400" y="2390274"/>
            <a:ext cx="8229600" cy="3416320"/>
          </a:xfrm>
          <a:prstGeom prst="rect">
            <a:avLst/>
          </a:prstGeom>
          <a:noFill/>
        </p:spPr>
        <p:txBody>
          <a:bodyPr wrap="square">
            <a:spAutoFit/>
          </a:bodyPr>
          <a:lstStyle/>
          <a:p>
            <a:r>
              <a:rPr lang="en-US" sz="2400" dirty="0">
                <a:solidFill>
                  <a:schemeClr val="accent6">
                    <a:lumMod val="10000"/>
                  </a:schemeClr>
                </a:solidFill>
              </a:rPr>
              <a:t>This set of architectural elements provides a trade-off between</a:t>
            </a:r>
          </a:p>
          <a:p>
            <a:r>
              <a:rPr lang="en-US" sz="2400" dirty="0">
                <a:solidFill>
                  <a:schemeClr val="accent6">
                    <a:lumMod val="10000"/>
                  </a:schemeClr>
                </a:solidFill>
              </a:rPr>
              <a:t>performance, power efficiency and configurability, and</a:t>
            </a:r>
          </a:p>
          <a:p>
            <a:r>
              <a:rPr lang="en-US" sz="2400" dirty="0">
                <a:solidFill>
                  <a:schemeClr val="accent6">
                    <a:lumMod val="10000"/>
                  </a:schemeClr>
                </a:solidFill>
              </a:rPr>
              <a:t>hence it is suitable to next-generation edge computing</a:t>
            </a:r>
          </a:p>
          <a:p>
            <a:r>
              <a:rPr lang="en-US" sz="2400" dirty="0">
                <a:solidFill>
                  <a:schemeClr val="accent6">
                    <a:lumMod val="10000"/>
                  </a:schemeClr>
                </a:solidFill>
              </a:rPr>
              <a:t>systems where energy-constrained computing has to be performed</a:t>
            </a:r>
          </a:p>
          <a:p>
            <a:r>
              <a:rPr lang="en-US" sz="2400" dirty="0">
                <a:solidFill>
                  <a:schemeClr val="accent6">
                    <a:lumMod val="10000"/>
                  </a:schemeClr>
                </a:solidFill>
              </a:rPr>
              <a:t>The architecture also includes custom extensions to ISA in order to be more energy-efficient specifically in low-power use.</a:t>
            </a:r>
          </a:p>
          <a:p>
            <a:r>
              <a:rPr lang="en-US" sz="2400" dirty="0">
                <a:solidFill>
                  <a:schemeClr val="accent6">
                    <a:lumMod val="10000"/>
                  </a:schemeClr>
                </a:solidFill>
              </a:rPr>
              <a:t>These contain special instructions to enter and leave</a:t>
            </a:r>
          </a:p>
          <a:p>
            <a:r>
              <a:rPr lang="en-US" sz="2400" dirty="0">
                <a:solidFill>
                  <a:schemeClr val="accent6">
                    <a:lumMod val="10000"/>
                  </a:schemeClr>
                </a:solidFill>
              </a:rPr>
              <a:t>low-power sleep states, which allow dynamically Managing instruction through software.</a:t>
            </a:r>
            <a:endParaRPr lang="en-IN" sz="2400" dirty="0">
              <a:solidFill>
                <a:schemeClr val="accent6">
                  <a:lumMod val="10000"/>
                </a:schemeClr>
              </a:solidFill>
            </a:endParaRPr>
          </a:p>
        </p:txBody>
      </p:sp>
    </p:spTree>
    <p:extLst>
      <p:ext uri="{BB962C8B-B14F-4D97-AF65-F5344CB8AC3E}">
        <p14:creationId xmlns:p14="http://schemas.microsoft.com/office/powerpoint/2010/main" val="1797224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898C-C454-25C2-9591-CD0218636171}"/>
              </a:ext>
            </a:extLst>
          </p:cNvPr>
          <p:cNvSpPr>
            <a:spLocks noGrp="1"/>
          </p:cNvSpPr>
          <p:nvPr>
            <p:ph type="title"/>
          </p:nvPr>
        </p:nvSpPr>
        <p:spPr/>
        <p:txBody>
          <a:bodyPr/>
          <a:lstStyle/>
          <a:p>
            <a:r>
              <a:rPr lang="en-IN" dirty="0"/>
              <a:t>Table Explanation</a:t>
            </a:r>
          </a:p>
        </p:txBody>
      </p:sp>
      <p:sp>
        <p:nvSpPr>
          <p:cNvPr id="3" name="Table Placeholder 2">
            <a:extLst>
              <a:ext uri="{FF2B5EF4-FFF2-40B4-BE49-F238E27FC236}">
                <a16:creationId xmlns:a16="http://schemas.microsoft.com/office/drawing/2014/main" id="{D0598820-1576-65C1-D7C8-BD2DB68ED10B}"/>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BC2C3ADE-9182-051B-4C8C-30BBF0B2DEB3}"/>
              </a:ext>
            </a:extLst>
          </p:cNvPr>
          <p:cNvSpPr>
            <a:spLocks noGrp="1"/>
          </p:cNvSpPr>
          <p:nvPr>
            <p:ph type="sldNum" sz="quarter" idx="4"/>
          </p:nvPr>
        </p:nvSpPr>
        <p:spPr/>
        <p:txBody>
          <a:bodyPr/>
          <a:lstStyle/>
          <a:p>
            <a:fld id="{58FB4751-880F-D840-AAA9-3A15815CC996}" type="slidenum">
              <a:rPr lang="en-US" smtClean="0"/>
              <a:pPr/>
              <a:t>7</a:t>
            </a:fld>
            <a:endParaRPr lang="en-US" dirty="0"/>
          </a:p>
        </p:txBody>
      </p:sp>
      <p:pic>
        <p:nvPicPr>
          <p:cNvPr id="6" name="Picture 5">
            <a:extLst>
              <a:ext uri="{FF2B5EF4-FFF2-40B4-BE49-F238E27FC236}">
                <a16:creationId xmlns:a16="http://schemas.microsoft.com/office/drawing/2014/main" id="{84035E79-1DAF-4D84-FF46-5416B5DF688E}"/>
              </a:ext>
            </a:extLst>
          </p:cNvPr>
          <p:cNvPicPr>
            <a:picLocks noChangeAspect="1"/>
          </p:cNvPicPr>
          <p:nvPr/>
        </p:nvPicPr>
        <p:blipFill>
          <a:blip r:embed="rId2"/>
          <a:stretch>
            <a:fillRect/>
          </a:stretch>
        </p:blipFill>
        <p:spPr>
          <a:xfrm>
            <a:off x="1069611" y="2039111"/>
            <a:ext cx="9983400" cy="3374136"/>
          </a:xfrm>
          <a:prstGeom prst="rect">
            <a:avLst/>
          </a:prstGeom>
        </p:spPr>
      </p:pic>
    </p:spTree>
    <p:extLst>
      <p:ext uri="{BB962C8B-B14F-4D97-AF65-F5344CB8AC3E}">
        <p14:creationId xmlns:p14="http://schemas.microsoft.com/office/powerpoint/2010/main" val="2789483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5E1786-C1C7-34CE-A857-606C44E42AB1}"/>
              </a:ext>
            </a:extLst>
          </p:cNvPr>
          <p:cNvSpPr txBox="1"/>
          <p:nvPr/>
        </p:nvSpPr>
        <p:spPr>
          <a:xfrm>
            <a:off x="642446" y="797510"/>
            <a:ext cx="10907108" cy="5262979"/>
          </a:xfrm>
          <a:prstGeom prst="rect">
            <a:avLst/>
          </a:prstGeom>
          <a:noFill/>
        </p:spPr>
        <p:txBody>
          <a:bodyPr wrap="square">
            <a:spAutoFit/>
          </a:bodyPr>
          <a:lstStyle/>
          <a:p>
            <a:pPr rtl="0">
              <a:buNone/>
            </a:pPr>
            <a:r>
              <a:rPr lang="en-IN" sz="2400" dirty="0">
                <a:solidFill>
                  <a:schemeClr val="accent6">
                    <a:lumMod val="10000"/>
                  </a:schemeClr>
                </a:solidFill>
              </a:rPr>
              <a:t>This table compares five processor cores on how well-suited each is for low-power edge/IoT devices, across five dimensions. Here's what each column and row is telling you:</a:t>
            </a:r>
          </a:p>
          <a:p>
            <a:pPr rtl="0">
              <a:buNone/>
            </a:pPr>
            <a:r>
              <a:rPr lang="en-IN" sz="2400" b="1" dirty="0">
                <a:solidFill>
                  <a:schemeClr val="accent6">
                    <a:lumMod val="10000"/>
                  </a:schemeClr>
                </a:solidFill>
              </a:rPr>
              <a:t>The columns (evaluation criteria):</a:t>
            </a:r>
            <a:endParaRPr lang="en-IN" sz="2400" dirty="0">
              <a:solidFill>
                <a:schemeClr val="accent6">
                  <a:lumMod val="10000"/>
                </a:schemeClr>
              </a:solidFill>
            </a:endParaRPr>
          </a:p>
          <a:p>
            <a:pPr marL="342900" lvl="0" indent="-342900" rtl="0">
              <a:buFont typeface="Arial" panose="020B0604020202020204" pitchFamily="34" charset="0"/>
              <a:buChar char="•"/>
            </a:pPr>
            <a:r>
              <a:rPr lang="en-IN" sz="2400" b="1" dirty="0">
                <a:solidFill>
                  <a:schemeClr val="accent6">
                    <a:lumMod val="10000"/>
                  </a:schemeClr>
                </a:solidFill>
              </a:rPr>
              <a:t>ISA Type</a:t>
            </a:r>
            <a:r>
              <a:rPr lang="en-IN" sz="2400" dirty="0">
                <a:solidFill>
                  <a:schemeClr val="accent6">
                    <a:lumMod val="10000"/>
                  </a:schemeClr>
                </a:solidFill>
              </a:rPr>
              <a:t> — whether the core uses a proprietary instruction set (ARM) or an open RISC-V variant, and which extensions it supports (I = base integer, M = multiply/divide, C = compressed instructions)</a:t>
            </a:r>
          </a:p>
          <a:p>
            <a:pPr marL="342900" lvl="0" indent="-342900" rtl="0">
              <a:buFont typeface="Arial" panose="020B0604020202020204" pitchFamily="34" charset="0"/>
              <a:buChar char="•"/>
            </a:pPr>
            <a:r>
              <a:rPr lang="en-IN" sz="2400" b="1" dirty="0">
                <a:solidFill>
                  <a:schemeClr val="accent6">
                    <a:lumMod val="10000"/>
                  </a:schemeClr>
                </a:solidFill>
              </a:rPr>
              <a:t>Pipeline Stages</a:t>
            </a:r>
            <a:r>
              <a:rPr lang="en-IN" sz="2400" dirty="0">
                <a:solidFill>
                  <a:schemeClr val="accent6">
                    <a:lumMod val="10000"/>
                  </a:schemeClr>
                </a:solidFill>
              </a:rPr>
              <a:t> — how many steps an instruction passes through before completing; more stages generally means more throughput but more hardware (and power) to manage</a:t>
            </a:r>
          </a:p>
          <a:p>
            <a:pPr marL="342900" lvl="0" indent="-342900" rtl="0">
              <a:buFont typeface="Arial" panose="020B0604020202020204" pitchFamily="34" charset="0"/>
              <a:buChar char="•"/>
            </a:pPr>
            <a:r>
              <a:rPr lang="en-IN" sz="2400" b="1" dirty="0">
                <a:solidFill>
                  <a:schemeClr val="accent6">
                    <a:lumMod val="10000"/>
                  </a:schemeClr>
                </a:solidFill>
              </a:rPr>
              <a:t>Power Management</a:t>
            </a:r>
            <a:r>
              <a:rPr lang="en-IN" sz="2400" dirty="0">
                <a:solidFill>
                  <a:schemeClr val="accent6">
                    <a:lumMod val="10000"/>
                  </a:schemeClr>
                </a:solidFill>
              </a:rPr>
              <a:t> — what hardware techniques the core uses to cut power when idle</a:t>
            </a:r>
          </a:p>
          <a:p>
            <a:pPr marL="342900" lvl="0" indent="-342900" rtl="0">
              <a:buFont typeface="Arial" panose="020B0604020202020204" pitchFamily="34" charset="0"/>
              <a:buChar char="•"/>
            </a:pPr>
            <a:r>
              <a:rPr lang="en-IN" sz="2400" b="1" dirty="0">
                <a:solidFill>
                  <a:schemeClr val="accent6">
                    <a:lumMod val="10000"/>
                  </a:schemeClr>
                </a:solidFill>
              </a:rPr>
              <a:t>Custom ISA Extensions</a:t>
            </a:r>
            <a:r>
              <a:rPr lang="en-IN" sz="2400" dirty="0">
                <a:solidFill>
                  <a:schemeClr val="accent6">
                    <a:lumMod val="10000"/>
                  </a:schemeClr>
                </a:solidFill>
              </a:rPr>
              <a:t> — whether the design can add its own special instructions (useful for things like triggering sleep modes directly from software)</a:t>
            </a:r>
          </a:p>
          <a:p>
            <a:pPr marL="342900" lvl="0" indent="-342900" rtl="0">
              <a:buFont typeface="Arial" panose="020B0604020202020204" pitchFamily="34" charset="0"/>
              <a:buChar char="•"/>
            </a:pPr>
            <a:r>
              <a:rPr lang="en-IN" sz="2400" b="1" dirty="0">
                <a:solidFill>
                  <a:schemeClr val="accent6">
                    <a:lumMod val="10000"/>
                  </a:schemeClr>
                </a:solidFill>
              </a:rPr>
              <a:t>Target Application</a:t>
            </a:r>
            <a:r>
              <a:rPr lang="en-IN" sz="2400" dirty="0">
                <a:solidFill>
                  <a:schemeClr val="accent6">
                    <a:lumMod val="10000"/>
                  </a:schemeClr>
                </a:solidFill>
              </a:rPr>
              <a:t> — what kind of device the core was designed for</a:t>
            </a:r>
          </a:p>
        </p:txBody>
      </p:sp>
    </p:spTree>
    <p:extLst>
      <p:ext uri="{BB962C8B-B14F-4D97-AF65-F5344CB8AC3E}">
        <p14:creationId xmlns:p14="http://schemas.microsoft.com/office/powerpoint/2010/main" val="3089718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83D8D3-8A40-45E4-DCB6-5BD740214A64}"/>
              </a:ext>
            </a:extLst>
          </p:cNvPr>
          <p:cNvSpPr txBox="1"/>
          <p:nvPr/>
        </p:nvSpPr>
        <p:spPr>
          <a:xfrm>
            <a:off x="1122947" y="1636295"/>
            <a:ext cx="8614611" cy="2308324"/>
          </a:xfrm>
          <a:prstGeom prst="rect">
            <a:avLst/>
          </a:prstGeom>
          <a:noFill/>
        </p:spPr>
        <p:txBody>
          <a:bodyPr wrap="square">
            <a:spAutoFit/>
          </a:bodyPr>
          <a:lstStyle/>
          <a:p>
            <a:r>
              <a:rPr lang="en-IN" sz="2400" b="1" dirty="0"/>
              <a:t>Our </a:t>
            </a:r>
            <a:r>
              <a:rPr lang="en-IN" sz="2400" b="1" dirty="0" err="1"/>
              <a:t>Coustamized</a:t>
            </a:r>
            <a:r>
              <a:rPr lang="en-IN" sz="2400" b="1" dirty="0"/>
              <a:t> processor</a:t>
            </a:r>
            <a:r>
              <a:rPr lang="en-IN" sz="2400" dirty="0"/>
              <a:t> — positioned as the most complete design: RV32I with M, C, </a:t>
            </a:r>
            <a:r>
              <a:rPr lang="en-IN" sz="2400" i="1" dirty="0"/>
              <a:t>and</a:t>
            </a:r>
            <a:r>
              <a:rPr lang="en-IN" sz="2400" dirty="0"/>
              <a:t> custom extensions, a full 5-stage pipeline (matching or exceeding the others in capability), and — critically — </a:t>
            </a:r>
            <a:r>
              <a:rPr lang="en-IN" sz="2400" b="1" dirty="0"/>
              <a:t>both</a:t>
            </a:r>
            <a:r>
              <a:rPr lang="en-IN" sz="2400" dirty="0"/>
              <a:t> clock gating and power gating together, plus custom "energy-aware instructions" that let software explicitly tell the hardware when to enter low-power states</a:t>
            </a:r>
            <a:r>
              <a:rPr lang="en-IN" dirty="0"/>
              <a:t>.</a:t>
            </a:r>
          </a:p>
        </p:txBody>
      </p:sp>
    </p:spTree>
    <p:extLst>
      <p:ext uri="{BB962C8B-B14F-4D97-AF65-F5344CB8AC3E}">
        <p14:creationId xmlns:p14="http://schemas.microsoft.com/office/powerpoint/2010/main" val="232044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8EF4-2CBA-A3E5-EF75-B00564FE04B7}"/>
              </a:ext>
            </a:extLst>
          </p:cNvPr>
          <p:cNvSpPr>
            <a:spLocks noGrp="1"/>
          </p:cNvSpPr>
          <p:nvPr>
            <p:ph type="ctrTitle"/>
          </p:nvPr>
        </p:nvSpPr>
        <p:spPr>
          <a:xfrm>
            <a:off x="915924" y="914400"/>
            <a:ext cx="10360152" cy="1283368"/>
          </a:xfrm>
        </p:spPr>
        <p:txBody>
          <a:bodyPr/>
          <a:lstStyle/>
          <a:p>
            <a:r>
              <a:rPr lang="en-IN" dirty="0"/>
              <a:t>Results</a:t>
            </a:r>
          </a:p>
        </p:txBody>
      </p:sp>
      <p:sp>
        <p:nvSpPr>
          <p:cNvPr id="4" name="TextBox 3">
            <a:extLst>
              <a:ext uri="{FF2B5EF4-FFF2-40B4-BE49-F238E27FC236}">
                <a16:creationId xmlns:a16="http://schemas.microsoft.com/office/drawing/2014/main" id="{C5E7AE4E-ABE2-F4B4-8795-A60B40580A88}"/>
              </a:ext>
            </a:extLst>
          </p:cNvPr>
          <p:cNvSpPr txBox="1"/>
          <p:nvPr/>
        </p:nvSpPr>
        <p:spPr>
          <a:xfrm>
            <a:off x="1740568" y="2197768"/>
            <a:ext cx="8710863" cy="4154984"/>
          </a:xfrm>
          <a:prstGeom prst="rect">
            <a:avLst/>
          </a:prstGeom>
          <a:noFill/>
        </p:spPr>
        <p:txBody>
          <a:bodyPr wrap="square">
            <a:spAutoFit/>
          </a:bodyPr>
          <a:lstStyle/>
          <a:p>
            <a:pPr rtl="0">
              <a:buNone/>
            </a:pPr>
            <a:r>
              <a:rPr lang="en-IN" sz="2400" b="1" dirty="0"/>
              <a:t>What the paper actually reports and what these charts show:</a:t>
            </a:r>
            <a:endParaRPr lang="en-IN" sz="2400" dirty="0"/>
          </a:p>
          <a:p>
            <a:pPr marL="342900" lvl="0" indent="-342900" rtl="0">
              <a:buFont typeface="Arial" panose="020B0604020202020204" pitchFamily="34" charset="0"/>
              <a:buChar char="•"/>
            </a:pPr>
            <a:r>
              <a:rPr lang="en-IN" sz="2400" b="1" dirty="0"/>
              <a:t>Energy chart</a:t>
            </a:r>
            <a:r>
              <a:rPr lang="en-IN" sz="2400" dirty="0"/>
              <a:t> — the paper's central claim: the proposed core (fine-grain clock gating + power gating + instruction-level parallelism, on a 5-stage RV32IM/C pipeline) uses about 43% less energy than a conventional RISC-V core doing comparable work, with similar functional performance.</a:t>
            </a:r>
          </a:p>
          <a:p>
            <a:pPr marL="342900" lvl="0" indent="-342900" rtl="0">
              <a:buFont typeface="Arial" panose="020B0604020202020204" pitchFamily="34" charset="0"/>
              <a:buChar char="•"/>
            </a:pPr>
            <a:r>
              <a:rPr lang="en-IN" sz="2400" b="1" dirty="0"/>
              <a:t>Pipeline chart</a:t>
            </a:r>
            <a:r>
              <a:rPr lang="en-IN" sz="2400" dirty="0"/>
              <a:t> — pulled from your uploaded table: it shows where the proposed core sits architecturally relative to the others. Notably, it's the </a:t>
            </a:r>
            <a:r>
              <a:rPr lang="en-IN" sz="2400" i="1" dirty="0"/>
              <a:t>deepest</a:t>
            </a:r>
            <a:r>
              <a:rPr lang="en-IN" sz="2400" dirty="0"/>
              <a:t> pipeline (5 stages, matching more capability) while still claiming the biggest efficiency win — the paper's argument is that smart gating recovers the power cost of that extra pipeline depth.</a:t>
            </a:r>
          </a:p>
        </p:txBody>
      </p:sp>
    </p:spTree>
    <p:extLst>
      <p:ext uri="{BB962C8B-B14F-4D97-AF65-F5344CB8AC3E}">
        <p14:creationId xmlns:p14="http://schemas.microsoft.com/office/powerpoint/2010/main" val="1443763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92E4E48F-AD5E-8A63-AE2F-D5A6DD513267}"/>
              </a:ext>
            </a:extLst>
          </p:cNvPr>
          <p:cNvPicPr>
            <a:picLocks noGrp="1" noChangeAspect="1"/>
          </p:cNvPicPr>
          <p:nvPr>
            <p:ph sz="quarter" idx="12"/>
          </p:nvPr>
        </p:nvPicPr>
        <p:blipFill>
          <a:blip r:embed="rId2"/>
          <a:stretch>
            <a:fillRect/>
          </a:stretch>
        </p:blipFill>
        <p:spPr>
          <a:xfrm>
            <a:off x="5277853" y="3577390"/>
            <a:ext cx="6075947" cy="2662990"/>
          </a:xfrm>
          <a:prstGeom prst="rect">
            <a:avLst/>
          </a:prstGeom>
        </p:spPr>
      </p:pic>
      <p:sp>
        <p:nvSpPr>
          <p:cNvPr id="5" name="Slide Number Placeholder 4">
            <a:extLst>
              <a:ext uri="{FF2B5EF4-FFF2-40B4-BE49-F238E27FC236}">
                <a16:creationId xmlns:a16="http://schemas.microsoft.com/office/drawing/2014/main" id="{11988BFD-813C-CEF4-2D97-9BE93539894A}"/>
              </a:ext>
            </a:extLst>
          </p:cNvPr>
          <p:cNvSpPr>
            <a:spLocks noGrp="1"/>
          </p:cNvSpPr>
          <p:nvPr>
            <p:ph type="sldNum" sz="quarter" idx="4"/>
          </p:nvPr>
        </p:nvSpPr>
        <p:spPr/>
        <p:txBody>
          <a:bodyPr/>
          <a:lstStyle/>
          <a:p>
            <a:fld id="{58FB4751-880F-D840-AAA9-3A15815CC996}" type="slidenum">
              <a:rPr lang="en-US" smtClean="0"/>
              <a:pPr/>
              <a:t>11</a:t>
            </a:fld>
            <a:endParaRPr lang="en-US" dirty="0"/>
          </a:p>
        </p:txBody>
      </p:sp>
      <p:pic>
        <p:nvPicPr>
          <p:cNvPr id="7" name="Picture 6">
            <a:extLst>
              <a:ext uri="{FF2B5EF4-FFF2-40B4-BE49-F238E27FC236}">
                <a16:creationId xmlns:a16="http://schemas.microsoft.com/office/drawing/2014/main" id="{4295AA2F-C343-A263-61FB-F8D133BC532F}"/>
              </a:ext>
            </a:extLst>
          </p:cNvPr>
          <p:cNvPicPr>
            <a:picLocks noChangeAspect="1"/>
          </p:cNvPicPr>
          <p:nvPr/>
        </p:nvPicPr>
        <p:blipFill>
          <a:blip r:embed="rId3"/>
          <a:stretch>
            <a:fillRect/>
          </a:stretch>
        </p:blipFill>
        <p:spPr>
          <a:xfrm>
            <a:off x="256673" y="228501"/>
            <a:ext cx="6767146" cy="2899710"/>
          </a:xfrm>
          <a:prstGeom prst="rect">
            <a:avLst/>
          </a:prstGeom>
        </p:spPr>
      </p:pic>
    </p:spTree>
    <p:extLst>
      <p:ext uri="{BB962C8B-B14F-4D97-AF65-F5344CB8AC3E}">
        <p14:creationId xmlns:p14="http://schemas.microsoft.com/office/powerpoint/2010/main" val="3091654946"/>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{3146F823-EF4B-4BE8-839F-4A64E27D2191}TF1ed9553b-00c4-4092-846a-c8f7f2908f3beecd942f_win32-8e33096c3cfc</Template>
  <TotalTime>3762</TotalTime>
  <Words>795</Words>
  <Application>Microsoft Office PowerPoint</Application>
  <PresentationFormat>Widescreen</PresentationFormat>
  <Paragraphs>56</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Courier New</vt:lpstr>
      <vt:lpstr>Gill Sans Nova Light</vt:lpstr>
      <vt:lpstr>Sagona Book</vt:lpstr>
      <vt:lpstr>Custom</vt:lpstr>
      <vt:lpstr>Summary Of Research  Paper By: Kasil Teyene , H.Taconi</vt:lpstr>
      <vt:lpstr>Design and Implementation of a Low-Power RISC-V Processor Core for Energy-Constrained Edge Devices</vt:lpstr>
      <vt:lpstr>Motivation &amp; Problem Statement</vt:lpstr>
      <vt:lpstr>RISC-V Architecture Overview</vt:lpstr>
      <vt:lpstr>System Architecture</vt:lpstr>
      <vt:lpstr>System Architecture</vt:lpstr>
      <vt:lpstr>Table Explanation</vt:lpstr>
      <vt:lpstr>PowerPoint Presentation</vt:lpstr>
      <vt:lpstr>PowerPoint Presentation</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kuram vaibhava venkat</dc:creator>
  <cp:lastModifiedBy>kuram vaibhava venkat</cp:lastModifiedBy>
  <cp:revision>1</cp:revision>
  <dcterms:created xsi:type="dcterms:W3CDTF">2026-07-28T16:15:13Z</dcterms:created>
  <dcterms:modified xsi:type="dcterms:W3CDTF">2026-07-31T06:57:32Z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